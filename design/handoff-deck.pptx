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xanthiawang.github.io/fathompeak-site/" TargetMode="External"/><Relationship Id="rId2" Type="http://schemas.openxmlformats.org/officeDocument/2006/relationships/hyperlink" Target="https://github.com/xanthiawang/fathompeak-site" TargetMode="External"/><Relationship Id="rId3" Type="http://schemas.openxmlformats.org/officeDocument/2006/relationships/hyperlink" Target="https://xanthiawang.github.io/fathompeak-site/design/palette-type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ops_v3/cover_sq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2120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93792" y="0"/>
            <a:ext cx="3950208" cy="5143500"/>
          </a:xfrm>
          <a:prstGeom prst="rect">
            <a:avLst/>
          </a:prstGeom>
          <a:solidFill>
            <a:srgbClr val="212021"/>
          </a:solidFill>
          <a:ln w="12700">
            <a:solidFill>
              <a:srgbClr val="21202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77840" y="1371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设计交付文档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57784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沐仞官网 · 定稿方案「晨昏蓝」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577840" y="28346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D0D0D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设计：Zixin Wang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D0D0D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日期：2026-10-13（v3）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D0D0D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状态：原型 v36，已上线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xanthiawang.github.io/fathompeak-site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0" y="4663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沐仞科技 · 官网设计交付 · 2026-10-13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目录与工具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情绪板与色卡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22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按钮与胶囊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706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706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导航（桌面与手机）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090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页脚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首页设计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858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858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其他页面与用户流程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242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242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资产与备注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工具与链接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55448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线上网站（GitHub Pages，可直接分享）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u="sng" dirty="0">
                <a:solidFill>
                  <a:srgbClr val="2F63B8"/>
                </a:solidFill>
                <a:latin typeface="Menlo" pitchFamily="34" charset="0"/>
                <a:ea typeface="Menlo" pitchFamily="34" charset="-122"/>
                <a:cs typeface="Menl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https://xanthiawang.github.io/fathompeak-site/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GitHub 仓库（源文件，可编辑；推送约 1 分钟后自动上线）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u="sng" dirty="0">
                <a:solidFill>
                  <a:srgbClr val="2F63B8"/>
                </a:solidFill>
                <a:latin typeface="Menlo" pitchFamily="34" charset="0"/>
                <a:ea typeface="Menlo" pitchFamily="34" charset="-122"/>
                <a:cs typeface="Menl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https://github.com/xanthiawang/fathompeak-site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色卡与字体规范页（对比度表、字号梯度、CSS token）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u="sng" dirty="0">
                <a:solidFill>
                  <a:srgbClr val="2F63B8"/>
                </a:solidFill>
                <a:latin typeface="Menlo" pitchFamily="34" charset="0"/>
                <a:ea typeface="Menlo" pitchFamily="34" charset="-122"/>
                <a:cs typeface="Menl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https://xanthiawang.github.io/fathompeak-site/design/palette-type.html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整站    index.html（文字、数据、英文都在这一个文件）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素材    art/logos/ · fonts/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A4A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设计    design/（本文档、色卡与字体页）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编辑权限：仓库 Settings → Collaborators 邀请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沐仞科技 · 官网设计交付 · 2026-10-13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情绪板与色卡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29768" y="1024128"/>
            <a:ext cx="3072384" cy="10268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crops_v3/mood_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017520" cy="9720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0574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首页 · 地平线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9768" y="2212848"/>
            <a:ext cx="3072384" cy="10268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crops_v3/mood_enterpris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40280"/>
            <a:ext cx="3017520" cy="97200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32461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企业合作 · 色雾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29768" y="3401568"/>
            <a:ext cx="3072384" cy="10268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crops_v3/mood_network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0"/>
            <a:ext cx="3017520" cy="97200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443484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电站合作 · 地平线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4206240" y="10515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2F63B8"/>
          </a:solidFill>
          <a:ln w="9525">
            <a:solidFill>
              <a:srgbClr val="2F63B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206240" y="1536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晨蓝 · 文字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4206240" y="17099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#2F63B8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321808" y="10515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5284D7"/>
          </a:solidFill>
          <a:ln w="9525">
            <a:solidFill>
              <a:srgbClr val="5284D7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321808" y="1536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晨蓝 · 填充 / 天空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5321808" y="17099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#5284D7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6437376" y="10515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DCE7F7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37376" y="1536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晨蓝 · 软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437376" y="17099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#DCE7F7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7552944" y="10515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552944" y="1536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晨蓝 · 淡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7552944" y="17099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#EEF3FB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4206240" y="19659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4E3F66"/>
          </a:solidFill>
          <a:ln w="9525">
            <a:solidFill>
              <a:srgbClr val="4E3F6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206240" y="24505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暮紫 · 状态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4206240" y="26243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#4E3F66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321808" y="19659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EAE4F0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321808" y="24505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暮紫 · 软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321808" y="26243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#EAE4F0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6437376" y="19659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B7A8A3"/>
          </a:solidFill>
          <a:ln w="9525">
            <a:solidFill>
              <a:srgbClr val="B7A8A3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437376" y="24505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霞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6437376" y="26243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#B7A8A3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7552944" y="19659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3D314F"/>
          </a:solidFill>
          <a:ln w="9525">
            <a:solidFill>
              <a:srgbClr val="3D314F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552944" y="24505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暮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7552944" y="26243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#3D314F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4206240" y="28803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212021"/>
          </a:solidFill>
          <a:ln w="9525">
            <a:solidFill>
              <a:srgbClr val="212021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206240" y="3364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炭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4206240" y="35387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#212021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5321808" y="28803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E8D4CC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5321808" y="3364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霞光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5321808" y="35387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#E8D4CC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6437376" y="28803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F8F8F8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437376" y="3364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纸白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6437376" y="35387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#F8F8F8</a:t>
            </a:r>
            <a:endParaRPr lang="en-US" sz="800" dirty="0"/>
          </a:p>
        </p:txBody>
      </p:sp>
      <p:sp>
        <p:nvSpPr>
          <p:cNvPr id="47" name="Shape 42"/>
          <p:cNvSpPr/>
          <p:nvPr/>
        </p:nvSpPr>
        <p:spPr>
          <a:xfrm>
            <a:off x="7552944" y="28803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7552944" y="3364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墨 · 文字</a:t>
            </a:r>
            <a:endParaRPr lang="en-US" sz="850" dirty="0"/>
          </a:p>
        </p:txBody>
      </p:sp>
      <p:sp>
        <p:nvSpPr>
          <p:cNvPr id="49" name="Text 44"/>
          <p:cNvSpPr/>
          <p:nvPr/>
        </p:nvSpPr>
        <p:spPr>
          <a:xfrm>
            <a:off x="7552944" y="35387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#000 · 85–30%</a:t>
            </a:r>
            <a:endParaRPr lang="en-US" sz="800" dirty="0"/>
          </a:p>
        </p:txBody>
      </p:sp>
      <p:sp>
        <p:nvSpPr>
          <p:cNvPr id="50" name="Shape 45"/>
          <p:cNvSpPr/>
          <p:nvPr/>
        </p:nvSpPr>
        <p:spPr>
          <a:xfrm>
            <a:off x="4206240" y="3840480"/>
            <a:ext cx="676656" cy="292608"/>
          </a:xfrm>
          <a:prstGeom prst="roundRect">
            <a:avLst>
              <a:gd name="adj" fmla="val 15625"/>
            </a:avLst>
          </a:prstGeom>
          <a:solidFill>
            <a:srgbClr val="A9C3E8"/>
          </a:solidFill>
          <a:ln w="9525">
            <a:solidFill>
              <a:srgbClr val="A9C3E8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4206240" y="4151376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雾 1</a:t>
            </a:r>
            <a:endParaRPr lang="en-US" sz="800" dirty="0"/>
          </a:p>
        </p:txBody>
      </p:sp>
      <p:sp>
        <p:nvSpPr>
          <p:cNvPr id="52" name="Text 47"/>
          <p:cNvSpPr/>
          <p:nvPr/>
        </p:nvSpPr>
        <p:spPr>
          <a:xfrm>
            <a:off x="4206240" y="4297680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#A9C3E8</a:t>
            </a:r>
            <a:endParaRPr lang="en-US" sz="700" dirty="0"/>
          </a:p>
        </p:txBody>
      </p:sp>
      <p:sp>
        <p:nvSpPr>
          <p:cNvPr id="53" name="Shape 48"/>
          <p:cNvSpPr/>
          <p:nvPr/>
        </p:nvSpPr>
        <p:spPr>
          <a:xfrm>
            <a:off x="4928616" y="3840480"/>
            <a:ext cx="676656" cy="292608"/>
          </a:xfrm>
          <a:prstGeom prst="roundRect">
            <a:avLst>
              <a:gd name="adj" fmla="val 15625"/>
            </a:avLst>
          </a:prstGeom>
          <a:solidFill>
            <a:srgbClr val="E3ECF8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4928616" y="4151376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雾 2</a:t>
            </a:r>
            <a:endParaRPr lang="en-US" sz="800" dirty="0"/>
          </a:p>
        </p:txBody>
      </p:sp>
      <p:sp>
        <p:nvSpPr>
          <p:cNvPr id="55" name="Text 50"/>
          <p:cNvSpPr/>
          <p:nvPr/>
        </p:nvSpPr>
        <p:spPr>
          <a:xfrm>
            <a:off x="4928616" y="4297680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#E3ECF8</a:t>
            </a:r>
            <a:endParaRPr lang="en-US" sz="700" dirty="0"/>
          </a:p>
        </p:txBody>
      </p:sp>
      <p:sp>
        <p:nvSpPr>
          <p:cNvPr id="56" name="Shape 51"/>
          <p:cNvSpPr/>
          <p:nvPr/>
        </p:nvSpPr>
        <p:spPr>
          <a:xfrm>
            <a:off x="5650992" y="3840480"/>
            <a:ext cx="676656" cy="292608"/>
          </a:xfrm>
          <a:prstGeom prst="roundRect">
            <a:avLst>
              <a:gd name="adj" fmla="val 15625"/>
            </a:avLst>
          </a:prstGeom>
          <a:solidFill>
            <a:srgbClr val="EBCFC4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5650992" y="4151376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雾 3</a:t>
            </a:r>
            <a:endParaRPr lang="en-US" sz="800" dirty="0"/>
          </a:p>
        </p:txBody>
      </p:sp>
      <p:sp>
        <p:nvSpPr>
          <p:cNvPr id="58" name="Text 53"/>
          <p:cNvSpPr/>
          <p:nvPr/>
        </p:nvSpPr>
        <p:spPr>
          <a:xfrm>
            <a:off x="5650992" y="4297680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#EBCFC4</a:t>
            </a:r>
            <a:endParaRPr lang="en-US" sz="700" dirty="0"/>
          </a:p>
        </p:txBody>
      </p:sp>
      <p:sp>
        <p:nvSpPr>
          <p:cNvPr id="59" name="Shape 54"/>
          <p:cNvSpPr/>
          <p:nvPr/>
        </p:nvSpPr>
        <p:spPr>
          <a:xfrm>
            <a:off x="6373368" y="3840480"/>
            <a:ext cx="676656" cy="292608"/>
          </a:xfrm>
          <a:prstGeom prst="roundRect">
            <a:avLst>
              <a:gd name="adj" fmla="val 15625"/>
            </a:avLst>
          </a:prstGeom>
          <a:solidFill>
            <a:srgbClr val="D6CBDD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6373368" y="4151376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雾 4</a:t>
            </a:r>
            <a:endParaRPr lang="en-US" sz="800" dirty="0"/>
          </a:p>
        </p:txBody>
      </p:sp>
      <p:sp>
        <p:nvSpPr>
          <p:cNvPr id="61" name="Text 56"/>
          <p:cNvSpPr/>
          <p:nvPr/>
        </p:nvSpPr>
        <p:spPr>
          <a:xfrm>
            <a:off x="6373368" y="4297680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#D6CBDD</a:t>
            </a:r>
            <a:endParaRPr lang="en-US" sz="700" dirty="0"/>
          </a:p>
        </p:txBody>
      </p:sp>
      <p:sp>
        <p:nvSpPr>
          <p:cNvPr id="62" name="Shape 57"/>
          <p:cNvSpPr/>
          <p:nvPr/>
        </p:nvSpPr>
        <p:spPr>
          <a:xfrm>
            <a:off x="7095744" y="3840480"/>
            <a:ext cx="676656" cy="292608"/>
          </a:xfrm>
          <a:prstGeom prst="roundRect">
            <a:avLst>
              <a:gd name="adj" fmla="val 15625"/>
            </a:avLst>
          </a:prstGeom>
          <a:solidFill>
            <a:srgbClr val="F3F1EA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7095744" y="4151376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暖纸</a:t>
            </a:r>
            <a:endParaRPr lang="en-US" sz="800" dirty="0"/>
          </a:p>
        </p:txBody>
      </p:sp>
      <p:sp>
        <p:nvSpPr>
          <p:cNvPr id="64" name="Text 59"/>
          <p:cNvSpPr/>
          <p:nvPr/>
        </p:nvSpPr>
        <p:spPr>
          <a:xfrm>
            <a:off x="7095744" y="4297680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#F3F1EA</a:t>
            </a:r>
            <a:endParaRPr lang="en-US" sz="700" dirty="0"/>
          </a:p>
        </p:txBody>
      </p:sp>
      <p:sp>
        <p:nvSpPr>
          <p:cNvPr id="65" name="Shape 60"/>
          <p:cNvSpPr/>
          <p:nvPr/>
        </p:nvSpPr>
        <p:spPr>
          <a:xfrm>
            <a:off x="7818120" y="3840480"/>
            <a:ext cx="67665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7818120" y="4151376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卡白</a:t>
            </a:r>
            <a:endParaRPr lang="en-US" sz="800" dirty="0"/>
          </a:p>
        </p:txBody>
      </p:sp>
      <p:sp>
        <p:nvSpPr>
          <p:cNvPr id="67" name="Text 62"/>
          <p:cNvSpPr/>
          <p:nvPr/>
        </p:nvSpPr>
        <p:spPr>
          <a:xfrm>
            <a:off x="7818120" y="4297680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#FFFFFF</a:t>
            </a:r>
            <a:endParaRPr lang="en-US" sz="700" dirty="0"/>
          </a:p>
        </p:txBody>
      </p:sp>
      <p:sp>
        <p:nvSpPr>
          <p:cNvPr id="68" name="Text 63"/>
          <p:cNvSpPr/>
          <p:nvPr/>
        </p:nvSpPr>
        <p:spPr>
          <a:xfrm>
            <a:off x="457200" y="45537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白底为主，晨蓝唯一强调色，暮紫只做状态标签，色雾只做内页首屏，颜色之间用渐变衔接。无深色模式。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对比度：晨蓝文字 5.84；填充上白字 3.72，只做大字；暮紫 7.57；炭上白字 16.24；墨 50% 3.93，只做标签。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沐仞科技 · 官网设计交付 · 2026-10-13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字体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2062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61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模型服务与算电协同产品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Display 56 · 衬线 400 · 字距 −.03em · 行高 1.08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938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主流模型 × 绿电算力，一站式 AI 推理服务。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H1 38 · 衬线 400 · 行高 1.15（首屏反白）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2578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为什么是沐仞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8895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H2 28 · H3 20（卡片标题，字重 500）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1638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统一接入 GLM、DeepSeek、Qwen、MiniMax 等模型，按词元用量计费。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6027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Body 17 / 16 / 15 / 14 · 无衬线 400 · 行高 1.6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5800" y="3858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¥16.00 / M · 上下文 1M · 2026-09-25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" y="41148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Number 15 / 12 · 等宽　Label 11 · 等宽大写 · 字距 .08em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85800" y="43708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样张为系统字体代显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3776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三组字体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71600"/>
          <a:ext cx="3749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用途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拉丁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中文回退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标题 / 展示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Fraunces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思源宋体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正文 / 界面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DM Sans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思源黑体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数字 / 标签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DM Mono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思源黑体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937760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字号梯度（px）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37760" y="301752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56 / 38 / 28 / 20 衬线：展示、首屏、区块、卡片标题。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 / 16 / 15 / 14 / 13 无衬线：导语、正文、卡片、表格、脚注。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/ 12 / 11 等宽：数字、代码与大写标签。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五款均为 OFL；拉丁三款自托管，中文两款经 Google Fonts 非阻塞加载。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沐仞科技 · 官网设计交付 · 2026-10-13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按钮与胶囊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2062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主按钮 · 默认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1920240" cy="42976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0876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获取 API Key 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280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主按钮 · 悬停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1508760"/>
            <a:ext cx="1737360" cy="429768"/>
          </a:xfrm>
          <a:prstGeom prst="roundRect">
            <a:avLst>
              <a:gd name="adj" fmla="val 50000"/>
            </a:avLst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50876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获取 API Key 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次按钮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1554480" cy="429768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468880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先自助试用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240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首屏主按钮（56 高）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0" y="2468880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46888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获取 API Key ↓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3291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筛选胶囊 · 选中 / 未选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5204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204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63040" y="35204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35204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对话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35204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35204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40690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文字链接（下划线偏移 6px，线色墨 30%）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uFill>
                  <a:solidFill>
                    <a:srgbClr val="B3B3B3"/>
                  </a:solidFill>
                </a:u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浏览模型市场 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137160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主按钮：纯黑胶囊，高 45，左右内距 32，字 16 / 500 白；首屏版高 56，字 18，左右内距 40。</a:t>
            </a:r>
            <a:endParaRPr lang="en-US" sz="9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悬停：底色变 #424242，0.2 秒缓动；不抬升，不加影。</a:t>
            </a:r>
            <a:endParaRPr lang="en-US" sz="9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次按钮：浅灰 rgba(235,235,235,.7)，字黑；悬停为墨 5%。</a:t>
            </a:r>
            <a:endParaRPr lang="en-US" sz="9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筛选胶囊：高 32，选中黑底白字，未选白底细线，单选。</a:t>
            </a:r>
            <a:endParaRPr lang="en-US" sz="9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文字链接：黑字加淡下划线，箭头收尾；悬停字色为墨 50%。</a:t>
            </a:r>
            <a:endParaRPr lang="en-US" sz="9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键盘焦点：2px 晨蓝描边，外扩 2px，所有可点元素统一。</a:t>
            </a:r>
            <a:endParaRPr lang="en-US" sz="9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代码块：底 #141416、字 #E8E6DF，只在文档页。</a:t>
            </a:r>
            <a:endParaRPr lang="en-US" sz="9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折叠问答：12px 细加号 40% 透明，展开转 45° 成叉，答案 0.4 秒展开；分割线悬停加深。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沐仞科技 · 官网设计交付 · 2026-10-13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导航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29768" y="1069848"/>
            <a:ext cx="554126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crops_v3/pi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48640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桌面 · 固定胶囊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固定在页面顶部 28px，高 52，圆角 16，纸白底加 12px 磨砂，1px 墨 8% 细线，阴影 0 2px 8px 墨 6%。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左侧 40×40 山形 logo；五个内容链接（产品与服务、企业合作、电站合作、新闻动态、文档）16px，间距 34；默认 30% 透明，悬停与当前页 100%，0.2 秒。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右端次级入口：细分隔线后是「登录」，登录后变「控制台」；再右是「EN」，就地翻译当前页。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胶囊里不放按钮；首页的行动按钮只在首屏。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手机 · 整宽胶囊与展开菜单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1148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距顶 14，整宽，圆角 30；右侧「+」点开后胶囊长到接近全屏，菜单为 56px 细字灰色大字（比桌面多一项「指南」），当前页黑；底部一黑一灰两个按钮：获取 API Key、登录。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44768" y="1069848"/>
            <a:ext cx="1243584" cy="2624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crops_v3/m_ho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097280"/>
            <a:ext cx="1188720" cy="2569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72200" y="3730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手机首页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7424928" y="1069848"/>
            <a:ext cx="1243584" cy="26243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crops_v3/m_menu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097280"/>
            <a:ext cx="1188720" cy="2569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52360" y="3730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菜单展开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沐仞科技 · 官网设计交付 · 2026-10-13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页脚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29768" y="1024128"/>
            <a:ext cx="6681921" cy="2569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crops_v3/footer_onl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6627057" cy="2514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五栏：联系我们 · 产品 · 资源 · 公司 · 关注；下方一整行周报订阅，最后一行版权与备案号。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栏标题 13px 等宽黑字；链接 13px 等宽、墨 50%，悬停变黑；880px 以下两栏，手机单栏。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沐仞科技 · 官网设计交付 · 2026-10-13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首页设计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29768" y="1069848"/>
            <a:ext cx="4261104" cy="26837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crops_v3/home_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206240" cy="2628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3776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首屏构图（桌面 1440 × 900）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71600"/>
          <a:ext cx="3749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首屏高度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一屏（100svh），最小 640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导航到标题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36px；标题 38 距顶 116，副标 20，说明 15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大字标「沐仞」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宽约 52% 屏宽，白 12%，距顶 270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产品窗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宽 68%（最宽 980），距顶 46% 屏高，白 82% 加 22px 模糊，底部渐隐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地平线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弧顶约 235，圆半径一个屏宽，霞光带约 130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白弧与按钮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弧高 200；黑按钮 56 高，距底 22</a:t>
                      </a:r>
                      <a:endParaRPr lang="en-US" sz="9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3886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区块顺序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4160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首屏 → 合作滚动带 → 三个核心能力 → 行业与场景 → 项目案例 → 为什么是沐仞 → 新闻动态 → 常见问题 → 行动区。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93776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动效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937760" y="3566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区块进入视口 1 秒渐显；切换页面 0.4 秒淡入；滚动带悬停暂停；支持减少动效偏好。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沐仞科技 · 官网设计交付 · 2026-10-13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其他页面与用户流程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29768" y="1024128"/>
            <a:ext cx="2706624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crops_v3/d_mode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2651760" cy="1655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7340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产品与服务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264408" y="1024128"/>
            <a:ext cx="2706624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crops_v3/d_enterpris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051560"/>
            <a:ext cx="2651760" cy="1655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27340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企业采购与海外服务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29768" y="2898648"/>
            <a:ext cx="2706624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crops_v3/d_network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0"/>
            <a:ext cx="2651760" cy="1655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46085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电站合作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3264408" y="2898648"/>
            <a:ext cx="2706624" cy="1709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crops_v3/d_start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926080"/>
            <a:ext cx="2651760" cy="16550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291840" y="46085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账户开通流程（预览）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6172200" y="1051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页面与流程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172200" y="132588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产品与服务：三类产品加节点合作，一张闭环图，四段详情。</a:t>
            </a:r>
            <a:endParaRPr lang="en-US" sz="9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开发者：首屏按钮 → 正式平台创建账户与 Key → 按文档接入。</a:t>
            </a:r>
            <a:endParaRPr lang="en-US" sz="9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企业与机构：企业合作页 → 测试、报价 → 联系销售。</a:t>
            </a:r>
            <a:endParaRPr lang="en-US" sz="9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电站与资产方：电站合作页 → 留表。</a:t>
            </a:r>
            <a:endParaRPr lang="en-US" sz="9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登录只有一个入口，未登录进控制台会落到登录页。</a:t>
            </a:r>
            <a:endParaRPr lang="en-US" sz="9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新闻只放可查证的报道，附出处链接。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沐仞科技 · 官网设计交付 · 2026-10-13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182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资产与备注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" y="1435608"/>
            <a:ext cx="426110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crops_v3/log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206240" cy="7863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4231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合作与生态 logo：8 个 PNG，去色，80px 高（2 倍），取自公司商业计划书；清华、北大用文字词标。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品牌标志：山形 logo 为内联 SVG；页面图形（曲线、窗口）均为 CSS 与 SVG，无位图。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字体：拉丁三款自托管，中文两款 Google Fonts；无图标库。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886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上线前要替换的演示内容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160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节点定价与评价、实时成交看板（测试站演示数据）；控制台数字、订单号与 Key；企业账号对比表；文档里的接口细节；指南正文。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93776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待公司确认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37760" y="146304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一体机：混插机型叫 S2 还是 S4；形态按 S1–S3 还是风冷 / 液冷 / 集装箱。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平台名称：绿色词元交易平台或低碳词元直销平台；养老 App 是否上网站。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正式 API 地址与接口文档（测试环境地址为 test.api.fathom.cn）。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企业账号权益（对公、月结、专票、子账号）；合作伙伴各家关系；对外邮箱是否改域名邮箱。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37760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备注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37760" y="4160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无深色模式；单文件，按 token 实现。境内稳定访问需放到公司备案域名：把仓库内容放到网站根目录即可。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沐仞官网 设计交付文档</dc:title>
  <dc:subject>PptxGenJS Presentation</dc:subject>
  <dc:creator>Zixin Wang</dc:creator>
  <cp:lastModifiedBy>Zixin Wang</cp:lastModifiedBy>
  <cp:revision>1</cp:revision>
  <dcterms:created xsi:type="dcterms:W3CDTF">2026-10-13T10:49:44Z</dcterms:created>
  <dcterms:modified xsi:type="dcterms:W3CDTF">2026-10-13T10:49:44Z</dcterms:modified>
</cp:coreProperties>
</file>